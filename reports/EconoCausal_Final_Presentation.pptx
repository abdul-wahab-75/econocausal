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DCDC8"/>
                </a:solidFill>
                <a:latin typeface="Aptos"/>
              </a:defRPr>
            </a:pPr>
            <a:r>
              <a:t>CAUSAL MACHINE LEARNING • DYNAMIC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EconoCausal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0">
                <a:solidFill>
                  <a:srgbClr val="FFFFFF"/>
                </a:solidFill>
                <a:latin typeface="Aptos"/>
              </a:defRPr>
            </a:pPr>
            <a:r>
              <a:t>Double Machine Learning for</a:t>
            </a:r>
          </a:p>
          <a:p>
            <a:pPr>
              <a:spcAft>
                <a:spcPts val="700"/>
              </a:spcAft>
              <a:defRPr sz="2700" b="0">
                <a:solidFill>
                  <a:srgbClr val="FFFFFF"/>
                </a:solidFill>
                <a:latin typeface="Aptos"/>
              </a:defRPr>
            </a:pPr>
            <a:r>
              <a:t>Optimal Discount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7E1EB"/>
                </a:solidFill>
                <a:latin typeface="Aptos"/>
              </a:defRPr>
            </a:pPr>
            <a:r>
              <a:t>Estimating promotional impact and allocating discounts under a fixed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9C8D7"/>
                </a:solidFill>
                <a:latin typeface="Aptos"/>
              </a:defRPr>
            </a:pPr>
            <a:r>
              <a:t>Team project presentation | Synthetic and Rossmann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The discount targeting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BUSINESS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0604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Sure Things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Would purchase without a discount; discount may waste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60604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64008" cy="182880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Persuadables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9339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Purchase because of the promotion; intended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42316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Lost Causes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93392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Unlikely to purchase even with a discount.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463040"/>
            <a:ext cx="260604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146304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Sleeping Dogs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993392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May respond negatively to a discount.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4903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Observed sales differences are not automatically causal promotional impact.</a:t>
            </a:r>
          </a:p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Targeting by predicted spend may reward customers who would buy anyway.</a:t>
            </a:r>
          </a:p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t>•  Objective: estimate incremental treatment effects and optimize discount allocation within a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Causal identification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CAUSAL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10896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Observed features 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Calendar, customer and store characteristics used as observed confounders.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10896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64008" cy="182880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3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Treatment 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84831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Discount or promotion assignment.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10896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3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Outcome (Y)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84831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Sales or purchase-related outcome.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6303C"/>
                </a:solidFill>
                <a:latin typeface="Aptos"/>
              </a:defRPr>
            </a:pPr>
            <a:r>
              <a:t>Identification relies on conditional unconfoundedness, overlap (positivity), and SUTVA. These are framework assumptions; the experiments do not independently prove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380"/>
                </a:solidFill>
                <a:latin typeface="Aptos"/>
              </a:defRPr>
            </a:pPr>
            <a:r>
              <a:t>Synthetic benchmark features: Age, PriorSpend, VisitFrequency, LoyaltyScore.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Double Machine Learning (DML)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219456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1 • Outcome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Estimate expected outcome from features: g(X) ≈ E[Y|X].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383280" cy="219456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64008" cy="219456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2 • Treatment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Estimate treatment assignment from features: m(X) ≈ E[D|X].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383280" cy="219456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64008" cy="219456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3 • Residualize &amp;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3063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Cross-fit nuisance models, form residuals, estimate ATE from residualized Y and 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Reported experiments use the native DML backend and 3-fold cross-fitting.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An interaction-based regression produces approximate ITE estimates.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ATE and approximate ITE are distinct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Data pipeline and feature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Synthetic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5,000 records; known ground-truth ATE and ITE.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Features: Age, PriorSpend, VisitFrequency, LoyaltyScore.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64008" cy="182880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Rossmann retail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844,338 filtered store-day records across 1,115 stores.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Open stores with positive sales; store metadata merged.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Rossmann treatment: Discount; outcome: Sales.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17 engineered features cover calendar, customer counts, store characteristics, competition, promotions and holidays.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Observed treated/control sales difference is descriptive; DML estimates a confounder-adjusted effect under its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Model validation and diagnostic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82880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Placebo treatment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3 permutations | Mean placebo ATE: -0.0317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Standard deviation: 0.7262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Implementation criterion |mean| &lt; 1.0: passed.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Raw covariate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Age 0.1565 • PriorSpend 0.3443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VisitFrequency 0.2671 • LoyaltyScore 0.1604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Maximum absolute SMD: 0.3443.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Treated and control groups were not initially balanced under the 0.10 SMD threshold. These diagnostics are from the synthetic benchmark only. No placebo p-value was calculated.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D69AA"/>
                </a:solidFill>
                <a:latin typeface="Aptos"/>
              </a:defRPr>
            </a:pPr>
            <a:r>
              <a:t>Rossmann ATE 95% confidence interval: $672.46 to $682.98.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Heterogeneous treatment effects (ITE)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TREATMENT EFFECT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0292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20116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What ITE represents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4709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estimate of how treatment effect may vary across individual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29200" cy="201168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201168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How this project obtains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84831"/>
            <a:ext cx="4709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native estimator fits an interaction-based regression model to approximate heterogeneous effects.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Synthetic benchmark correlation between estimated and true ITE: 0.696.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No verified segment-level uplift values or ITE histogram figures are included in the current report.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ITE outputs are model estimates, not observed individual causal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Budget-constrained discount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0-1 KNAPSACK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263E"/>
                </a:solidFill>
                <a:latin typeface="Aptos"/>
              </a:defRPr>
            </a:pPr>
            <a:r>
              <a:t>Maximize estimated incremental value, subject to the available discount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5074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Value per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vᵢ = max(ITEᵢ × Priceᵢ × 0.10, 0)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10% is the fixed gross-margin assumption.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07492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64008" cy="182880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Discount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87752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cᵢ = max(Priceᵢ × DiscountRate, $0.50)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Minimum modeled cost per candidate: $0.50.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Primary solver: SciPy MILP using HiGHS; greedy value-to-cost fallback if MILP fails.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ROI = total estimated incremental value ÷ total discount cost.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Reported policy comparison uses a $10,000 synthetic benchmark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Policy comparison under a $10,000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SYNTHETIC BENCHMARK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149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2011680"/>
                <a:gridCol w="2743200"/>
                <a:gridCol w="1554480"/>
              </a:tblGrid>
              <a:tr h="5829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1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Targeted</a:t>
                      </a:r>
                    </a:p>
                  </a:txBody>
                  <a:tcPr>
                    <a:solidFill>
                      <a:srgbClr val="1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 spent</a:t>
                      </a:r>
                    </a:p>
                  </a:txBody>
                  <a:tcPr>
                    <a:solidFill>
                      <a:srgbClr val="1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Incremental value</a:t>
                      </a:r>
                    </a:p>
                  </a:txBody>
                  <a:tcPr>
                    <a:solidFill>
                      <a:srgbClr val="1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ROI</a:t>
                      </a:r>
                    </a:p>
                  </a:txBody>
                  <a:tcPr>
                    <a:solidFill>
                      <a:srgbClr val="16263E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Causal Knapsack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$10,000.00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$302,048.52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30.20x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High-Spender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$9,999.93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$192,288.42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19.23x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527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$9,999.66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$213,656.59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C"/>
                          </a:solidFill>
                        </a:defRPr>
                      </a:pPr>
                      <a:r>
                        <a:t>21.37x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2519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63E"/>
                </a:solidFill>
                <a:latin typeface="Aptos"/>
              </a:defRPr>
            </a:pPr>
            <a:r>
              <a:t>Causal Knapsack achieved approximately 1.57× the estimated incremental value of High-Spender targeting and 1.41× that of Random targeting in this reproduced synthetic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A4646"/>
                </a:solidFill>
                <a:latin typeface="Aptos"/>
              </a:defRPr>
            </a:pPr>
            <a:r>
              <a:t>These are model-estimated synthetic results, not measured Rossmann business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Targeting performance and Qini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029200" cy="192024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192024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Reported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Raw Qini area: 6,184.36</a:t>
            </a:r>
          </a:p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Reproduced synthetic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29200" cy="192024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19202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84831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implementation reports a raw area difference; it is not a normalized Qini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 positive raw Qini area is reported as performance above the random reference.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The current report does not provide decile-level gains or a separate AUUC result.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Do not infer a specific top-decile share of incremental 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Interactive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192024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19202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Dataset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Synthetic benchmark and Rossmann dataset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92024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920240"/>
          </a:xfrm>
          <a:prstGeom prst="rect">
            <a:avLst/>
          </a:prstGeom>
          <a:solidFill>
            <a:srgbClr val="14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Model and policy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DML estimates, policy comparison and budget allocation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429000" cy="1920240"/>
          </a:xfrm>
          <a:prstGeom prst="roundRect">
            <a:avLst/>
          </a:prstGeom>
          <a:solidFill>
            <a:srgbClr val="F0F4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64008" cy="19202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459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3E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3911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KPI cards, charts, allocation schedule and CSV export.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Dashboard supports interactive budget and discount configuration.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Dashboard was manually exercised in Synthetic Benchmark and Rossmann modes.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Use the live application for the final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6263E"/>
                </a:solidFill>
                <a:latin typeface="Aptos"/>
              </a:defRPr>
            </a:pPr>
            <a:r>
              <a:t>Limitations, recommendations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4878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97380"/>
                </a:solidFill>
                <a:latin typeface="Aptos"/>
              </a:defRPr>
            </a:pPr>
            <a:r>
              <a:t>EconoCausal | 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73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Causal interpretation depends on unconfoundedness, overlap and SUTVA; these assumptions are not independently proven.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Raw SMD values show initial imbalance in the synthetic benchmark; this is not a post-adjustment balance test.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Rossmann results are observational and depend on selected features, model specification and preprocessing.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ITE estimates are approximate; policy values rely on a fixed 10% gross-margin assumption.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Future work: sensitivity analysis, additional periods or datasets, and fairness evaluation before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782"/>
                </a:solidFill>
                <a:latin typeface="Aptos"/>
              </a:defRPr>
            </a:pPr>
            <a:r>
              <a:t>Thank you |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